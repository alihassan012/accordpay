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43646d77834e87" /><Relationship Type="http://schemas.openxmlformats.org/officeDocument/2006/relationships/extended-properties" Target="/docProps/app.xml" Id="Radbeda2c331242a6" /><Relationship Type="http://schemas.openxmlformats.org/officeDocument/2006/relationships/officeDocument" Target="/ppt/presentation.xml" Id="Rbead5081b3334997" /></Relationships>
</file>

<file path=ppt/presentation.xml><?xml version="1.0" encoding="utf-8"?>
<p:presentation xmlns:p="http://schemas.openxmlformats.org/presentationml/2006/main">
  <p:sldMasterIdLst>
    <p:sldMasterId xmlns:r="http://schemas.openxmlformats.org/officeDocument/2006/relationships" id="2147483648" r:id="R122a8312c1974d64"/>
  </p:sldMasterIdLst>
  <p:notesMasterIdLst>
    <p:notesMasterId xmlns:r="http://schemas.openxmlformats.org/officeDocument/2006/relationships" r:id="R2276ab9516634a3c"/>
  </p:notesMasterIdLst>
  <p:sldIdLst>
    <p:sldId xmlns:r="http://schemas.openxmlformats.org/officeDocument/2006/relationships" id="256" r:id="R2c00831f11f5400b"/>
    <p:sldId xmlns:r="http://schemas.openxmlformats.org/officeDocument/2006/relationships" id="257" r:id="R5ab35ca786aa4d2c"/>
    <p:sldId xmlns:r="http://schemas.openxmlformats.org/officeDocument/2006/relationships" id="258" r:id="R9f98d60aeffc4af4"/>
    <p:sldId xmlns:r="http://schemas.openxmlformats.org/officeDocument/2006/relationships" id="259" r:id="Rd5675f671edc4baf"/>
    <p:sldId xmlns:r="http://schemas.openxmlformats.org/officeDocument/2006/relationships" id="260" r:id="R96bbe497cfd949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e79b72758c4a5c" /><Relationship Type="http://schemas.openxmlformats.org/officeDocument/2006/relationships/slideMaster" Target="/ppt/slideMasters/slideMaster1.xml" Id="R122a8312c1974d64" /><Relationship Type="http://schemas.openxmlformats.org/officeDocument/2006/relationships/notesMaster" Target="/ppt/notesMasters/notesMaster1.xml" Id="R2276ab9516634a3c" /><Relationship Type="http://schemas.openxmlformats.org/officeDocument/2006/relationships/presProps" Target="/ppt/presProps.xml" Id="R9490ed9c71c94db0" /><Relationship Type="http://schemas.openxmlformats.org/officeDocument/2006/relationships/tableStyles" Target="/ppt/tableStyles.xml" Id="R7eeaf9ba68e84d3e" /><Relationship Type="http://schemas.openxmlformats.org/officeDocument/2006/relationships/slide" Target="/ppt/slides/slide1.xml" Id="R2c00831f11f5400b" /><Relationship Type="http://schemas.openxmlformats.org/officeDocument/2006/relationships/slide" Target="/ppt/slides/slide2.xml" Id="R5ab35ca786aa4d2c" /><Relationship Type="http://schemas.openxmlformats.org/officeDocument/2006/relationships/slide" Target="/ppt/slides/slide3.xml" Id="R9f98d60aeffc4af4" /><Relationship Type="http://schemas.openxmlformats.org/officeDocument/2006/relationships/slide" Target="/ppt/slides/slide4.xml" Id="Rd5675f671edc4baf" /><Relationship Type="http://schemas.openxmlformats.org/officeDocument/2006/relationships/slide" Target="/ppt/slides/slide5.xml" Id="R96bbe497cfd949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460ab1feb342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19d55eca604a5c" /><Relationship Type="http://schemas.openxmlformats.org/officeDocument/2006/relationships/notesMaster" Target="/ppt/notesMasters/notesMaster1.xml" Id="R1aff3e621ad549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b5322aedb348fc" /><Relationship Type="http://schemas.openxmlformats.org/officeDocument/2006/relationships/notesMaster" Target="/ppt/notesMasters/notesMaster1.xml" Id="Rbc1a8455988942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d09888cd4a4163" /><Relationship Type="http://schemas.openxmlformats.org/officeDocument/2006/relationships/notesMaster" Target="/ppt/notesMasters/notesMaster1.xml" Id="R9abf0a35d8fb4e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b3e05c266e483d" /><Relationship Type="http://schemas.openxmlformats.org/officeDocument/2006/relationships/notesMaster" Target="/ppt/notesMasters/notesMaster1.xml" Id="R2016b87f4d704a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4ab86b0a474019" /><Relationship Type="http://schemas.openxmlformats.org/officeDocument/2006/relationships/notesMaster" Target="/ppt/notesMasters/notesMaster1.xml" Id="R4b05015a855f4b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Ali, 35 seconds. Explain the bill/deal mismatch problem. Team: Ali Hasan, Asad, Adil, Moeez. This is a prototype, with no customer research or real banking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Moeez, 35 seconds. Exactly three checks. AI interprets supplied words and returns original quotes. Code checks exact quotes, invoice arithmetic and the approved destination. Source: BUILD_HANDOFF/PRODUCT_SPEC.md and prototype/prompt.txt.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live Gemini D03 browser flow succeeded with the replacement key. One receipt DEMO-315C44933A5AB649 and balances survived a real app restart. Screenshot records that verification, not a new call. Afterwards we archived the state and reset to500,000/0 for rehearsal. Source: BUILD_STATUS.md and runtime/screenshots/receipt-live.jpg. Asad,75 seconds: also show D07 HOLD, with exact correction from5,000 to3,000. The screenshot predates the AccordPay rename and documents the earlier verified transfer.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Adil,90 seconds. Run fresh D03 after reset, approve with private passcode, show receipt. Real browser flow, exact stored transfer and restart persistence verified. Returning to completed owner review links the same receipt without another payable form. Controlled tests verify sequential/concurrent repeated POST and rollback. D04 REVIEW and D07 HOLD had no owner payment link. Source: tests/test_payment.py and BUILD_STATUS.md.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Latest revision uses gemini-3.5-flash-lite with prompt b306d6ae5ed5793b. Pair02 AWAITING_OWNER and Pair06 HOLD completed in 5 seconds; Pair04 REVIEW in 6.1 seconds plus successful browser recheck. These three PDF pairs were development cases. Historical repeat evaluation: 8/9 matched, one safe API failure, zero unsafe readiness; original run 2/9 matched, seven failures. Historical frozen configuration 9063daea71c2844e used a different model/prompt and does not validate current revision. Remaining nine PDF pairs, fresh independent evaluation and teammate meaning review pending. Two earlier videos are edited saved-result walkthroughs with the previous product name, not current live calls. Render Free deployment prepared; its database is ephemeral. No hosted URL yet. Source: BUILD_STATUS.md.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3f886f9dd144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f9e323a22c443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22fd6b66c24f2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bd53f8acce747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1de73426d5459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f3ba7570c34c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9C9AF2-076B-468E-B5DB-07B106A1DA2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7FF31CA-B762-4151-8116-5F176DC015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5265085-DEB6-4735-B407-25911E8D57F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E77A96-A302-4FDA-B818-1E9F9E9343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9F1946-6278-4630-A1E9-4A47BF8FFB9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901BF3-95F6-4401-B9EF-E504C7AF5E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59CB16-3A15-4545-9057-C69AB9E873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7A21527-C0BF-4C01-8852-DB915539CEB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7CFC93-1264-4499-A01E-F81FB76F97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8393DA-B144-4AE2-83D0-C781C917F5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d6fc8259c34637" /><Relationship Type="http://schemas.openxmlformats.org/officeDocument/2006/relationships/slideLayout" Target="/ppt/slideLayouts/slideLayout1.xml" Id="R7228bd85327647f0" /><Relationship Type="http://schemas.openxmlformats.org/officeDocument/2006/relationships/slideLayout" Target="/ppt/slideLayouts/slideLayout2.xml" Id="R847739ea61224eb5" /><Relationship Type="http://schemas.openxmlformats.org/officeDocument/2006/relationships/slideLayout" Target="/ppt/slideLayouts/slideLayout3.xml" Id="R82d233417aa442ae" /><Relationship Type="http://schemas.openxmlformats.org/officeDocument/2006/relationships/slideLayout" Target="/ppt/slideLayouts/slideLayout4.xml" Id="R806a5d9b538e4d7f" /><Relationship Type="http://schemas.openxmlformats.org/officeDocument/2006/relationships/slideLayout" Target="/ppt/slideLayouts/slideLayout5.xml" Id="R89e7932ca34340f4" /><Relationship Type="http://schemas.openxmlformats.org/officeDocument/2006/relationships/slideLayout" Target="/ppt/slideLayouts/slideLayout6.xml" Id="R313fa667455641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28bd85327647f0"/>
    <p:sldLayoutId xmlns:r="http://schemas.openxmlformats.org/officeDocument/2006/relationships" id="2147483650" r:id="R847739ea61224eb5"/>
    <p:sldLayoutId xmlns:r="http://schemas.openxmlformats.org/officeDocument/2006/relationships" id="2147483651" r:id="R82d233417aa442ae"/>
    <p:sldLayoutId xmlns:r="http://schemas.openxmlformats.org/officeDocument/2006/relationships" id="2147483652" r:id="R806a5d9b538e4d7f"/>
    <p:sldLayoutId xmlns:r="http://schemas.openxmlformats.org/officeDocument/2006/relationships" id="2147483653" r:id="R89e7932ca34340f4"/>
    <p:sldLayoutId xmlns:r="http://schemas.openxmlformats.org/officeDocument/2006/relationships" id="2147483654" r:id="R313fa667455641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40c8a36cf3941ec" /><Relationship Type="http://schemas.openxmlformats.org/officeDocument/2006/relationships/notesSlide" Target="/ppt/notesSlides/notesSlide1.xml" Id="Rc5ab3c0e67134d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ba2a70cb55449b1" /><Relationship Type="http://schemas.openxmlformats.org/officeDocument/2006/relationships/notesSlide" Target="/ppt/notesSlides/notesSlide2.xml" Id="Rf7c9a06051db48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0f2a4086bb94c5e" /><Relationship Type="http://schemas.openxmlformats.org/officeDocument/2006/relationships/image" Target="/ppt/media/image.jpeg" Id="R371b95a1c75d464e" /><Relationship Type="http://schemas.openxmlformats.org/officeDocument/2006/relationships/notesSlide" Target="/ppt/notesSlides/notesSlide3.xml" Id="Re5c8576a27c749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87bf2e7ebe74102" /><Relationship Type="http://schemas.openxmlformats.org/officeDocument/2006/relationships/notesSlide" Target="/ppt/notesSlides/notesSlide4.xml" Id="R109df041def141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9cb49715ea3499e" /><Relationship Type="http://schemas.openxmlformats.org/officeDocument/2006/relationships/notesSlide" Target="/ppt/notesSlides/notesSlide5.xml" Id="R76b95610e3f043c0" /></Relationships>
</file>

<file path=ppt/slides/slide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DFAFDBA0-FD59-4332-9AFF-0A9A698BB998}"/>
              </a:ext>
            </a:extLst>
          </p:cNvPr>
          <p:cNvSpPr>
            <a:spLocks xmlns:a="http://schemas.openxmlformats.org/drawingml/2006/main" noGrp="1"/>
          </p:cNvSpPr>
          <p:nvPr/>
        </p:nvSpPr>
        <p:spPr>
          <a:xfrm xmlns:a="http://schemas.openxmlformats.org/drawingml/2006/main">
            <a:off x="666750" y="61912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52D35"/>
                </a:solidFill>
                <a:latin typeface="Arial"/>
                <a:ea typeface="Arial"/>
                <a:cs typeface="Arial"/>
              </a:defRPr>
            </a:defPPr>
          </a:lstStyle>
          <a:p xmlns:a="http://schemas.openxmlformats.org/drawingml/2006/main">
            <a:pPr>
              <a:buNone/>
              <a:defRPr sz="3600" b="1">
                <a:solidFill>
                  <a:srgbClr val="152D35"/>
                </a:solidFill>
                <a:latin typeface="Arial"/>
                <a:ea typeface="Arial"/>
                <a:cs typeface="Arial"/>
              </a:defRPr>
            </a:pPr>
            <a:r>
              <a:rPr sz="3600" b="1">
                <a:solidFill>
                  <a:srgbClr val="152D35"/>
                </a:solidFill>
                <a:latin typeface="Arial"/>
                <a:ea typeface="Arial"/>
                <a:cs typeface="Arial"/>
              </a:rPr>
              <a:t>AccordPay</a:t>
            </a:r>
          </a:p>
        </p:txBody>
      </p:sp>
      <p:sp>
        <p:nvSpPr>
          <p:cNvPr id="2" name="">
            <a:extLst xmlns:a="http://schemas.openxmlformats.org/drawingml/2006/main">
              <a:ext uri="{FF2B5EF4-FFF2-40B4-BE49-F238E27FC236}">
                <a16:creationId xmlns:a16="http://schemas.microsoft.com/office/drawing/2014/main" id="{9E286A80-11DF-444A-A17B-442F10255934}"/>
              </a:ext>
            </a:extLst>
          </p:cNvPr>
          <p:cNvSpPr>
            <a:spLocks xmlns:a="http://schemas.openxmlformats.org/drawingml/2006/main" noGrp="1"/>
          </p:cNvSpPr>
          <p:nvPr/>
        </p:nvSpPr>
        <p:spPr>
          <a:xfrm xmlns:a="http://schemas.openxmlformats.org/drawingml/2006/main">
            <a:off x="666750" y="2190750"/>
            <a:ext cx="10858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2D35"/>
                </a:solidFill>
                <a:latin typeface="Arial"/>
                <a:ea typeface="Arial"/>
                <a:cs typeface="Arial"/>
              </a:defRPr>
            </a:defPPr>
          </a:lstStyle>
          <a:p xmlns:a="http://schemas.openxmlformats.org/drawingml/2006/main">
            <a:pPr>
              <a:buNone/>
              <a:defRPr sz="2325" b="0">
                <a:solidFill>
                  <a:srgbClr val="152D35"/>
                </a:solidFill>
                <a:latin typeface="Arial"/>
                <a:ea typeface="Arial"/>
                <a:cs typeface="Arial"/>
              </a:defRPr>
            </a:pPr>
            <a:r>
              <a:rPr sz="2325" b="0">
                <a:solidFill>
                  <a:srgbClr val="152D35"/>
                </a:solidFill>
                <a:latin typeface="Arial"/>
                <a:ea typeface="Arial"/>
                <a:cs typeface="Arial"/>
              </a:rPr>
              <a:t>BroGrammers</a:t>
            </a:r>
          </a:p>
          <a:p xmlns:a="http://schemas.openxmlformats.org/drawingml/2006/main">
            <a:pPr>
              <a:buNone/>
              <a:defRPr sz="2325" b="0">
                <a:solidFill>
                  <a:srgbClr val="152D35"/>
                </a:solidFill>
                <a:latin typeface="Arial"/>
                <a:ea typeface="Arial"/>
                <a:cs typeface="Arial"/>
              </a:defRPr>
            </a:pPr>
            <a:r>
              <a:rPr sz="2325" b="0">
                <a:solidFill>
                  <a:srgbClr val="152D35"/>
                </a:solidFill>
                <a:latin typeface="Arial"/>
                <a:ea typeface="Arial"/>
                <a:cs typeface="Arial"/>
              </a:rPr>
              <a:t>Vendor invoice review with fictional demo funds</a:t>
            </a:r>
          </a:p>
        </p:txBody>
      </p:sp>
    </p:spTree>
    <p:extLst>
      <p:ext uri="{BB962C8B-B14F-4D97-AF65-F5344CB8AC3E}">
        <p14:creationId xmlns:p14="http://schemas.microsoft.com/office/powerpoint/2010/main" val="449921829"/>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769798B4-C402-4616-99B4-E85FDD1C1BC0}"/>
              </a:ext>
            </a:extLst>
          </p:cNvPr>
          <p:cNvSpPr>
            <a:spLocks xmlns:a="http://schemas.openxmlformats.org/drawingml/2006/main" noGrp="1"/>
          </p:cNvSpPr>
          <p:nvPr/>
        </p:nvSpPr>
        <p:spPr>
          <a:xfrm xmlns:a="http://schemas.openxmlformats.org/drawingml/2006/main">
            <a:off x="666750" y="61912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52D35"/>
                </a:solidFill>
                <a:latin typeface="Arial"/>
                <a:ea typeface="Arial"/>
                <a:cs typeface="Arial"/>
              </a:defRPr>
            </a:defPPr>
          </a:lstStyle>
          <a:p xmlns:a="http://schemas.openxmlformats.org/drawingml/2006/main">
            <a:pPr>
              <a:buNone/>
              <a:defRPr sz="3600" b="1">
                <a:solidFill>
                  <a:srgbClr val="152D35"/>
                </a:solidFill>
                <a:latin typeface="Arial"/>
                <a:ea typeface="Arial"/>
                <a:cs typeface="Arial"/>
              </a:defRPr>
            </a:pPr>
            <a:r>
              <a:rPr sz="3600" b="1">
                <a:solidFill>
                  <a:srgbClr val="152D35"/>
                </a:solidFill>
                <a:latin typeface="Arial"/>
                <a:ea typeface="Arial"/>
                <a:cs typeface="Arial"/>
              </a:rPr>
              <a:t>Three checks before owner review</a:t>
            </a:r>
          </a:p>
        </p:txBody>
      </p:sp>
      <p:sp>
        <p:nvSpPr>
          <p:cNvPr id="2" name="">
            <a:extLst xmlns:a="http://schemas.openxmlformats.org/drawingml/2006/main">
              <a:ext uri="{FF2B5EF4-FFF2-40B4-BE49-F238E27FC236}">
                <a16:creationId xmlns:a16="http://schemas.microsoft.com/office/drawing/2014/main" id="{D4FF0D41-3B26-4100-A450-F8EE041AAF75}"/>
              </a:ext>
            </a:extLst>
          </p:cNvPr>
          <p:cNvSpPr>
            <a:spLocks xmlns:a="http://schemas.openxmlformats.org/drawingml/2006/main" noGrp="1"/>
          </p:cNvSpPr>
          <p:nvPr/>
        </p:nvSpPr>
        <p:spPr>
          <a:xfrm xmlns:a="http://schemas.openxmlformats.org/drawingml/2006/main">
            <a:off x="666750" y="2190750"/>
            <a:ext cx="10858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2D35"/>
                </a:solidFill>
                <a:latin typeface="Arial"/>
                <a:ea typeface="Arial"/>
                <a:cs typeface="Arial"/>
              </a:defRPr>
            </a:defPPr>
          </a:lstStyle>
          <a:p xmlns:a="http://schemas.openxmlformats.org/drawingml/2006/main">
            <a:pPr>
              <a:buNone/>
              <a:defRPr sz="2325" b="0">
                <a:solidFill>
                  <a:srgbClr val="152D35"/>
                </a:solidFill>
                <a:latin typeface="Arial"/>
                <a:ea typeface="Arial"/>
                <a:cs typeface="Arial"/>
              </a:defRPr>
            </a:pPr>
            <a:r>
              <a:rPr sz="2325" b="0">
                <a:solidFill>
                  <a:srgbClr val="152D35"/>
                </a:solidFill>
                <a:latin typeface="Arial"/>
                <a:ea typeface="Arial"/>
                <a:cs typeface="Arial"/>
              </a:rPr>
              <a:t>1. Is the cost already included?</a:t>
            </a:r>
          </a:p>
          <a:p xmlns:a="http://schemas.openxmlformats.org/drawingml/2006/main">
            <a:r>
              <a:t/>
            </a:r>
          </a:p>
          <a:p xmlns:a="http://schemas.openxmlformats.org/drawingml/2006/main">
            <a:pPr>
              <a:buNone/>
              <a:defRPr sz="2325" b="0">
                <a:solidFill>
                  <a:srgbClr val="152D35"/>
                </a:solidFill>
                <a:latin typeface="Arial"/>
                <a:ea typeface="Arial"/>
                <a:cs typeface="Arial"/>
              </a:defRPr>
            </a:pPr>
            <a:r>
              <a:rPr sz="2325" b="0">
                <a:solidFill>
                  <a:srgbClr val="152D35"/>
                </a:solidFill>
                <a:latin typeface="Arial"/>
                <a:ea typeface="Arial"/>
                <a:cs typeface="Arial"/>
              </a:rPr>
              <a:t>2. Was this extra actually approved?</a:t>
            </a:r>
          </a:p>
          <a:p xmlns:a="http://schemas.openxmlformats.org/drawingml/2006/main">
            <a:r>
              <a:t/>
            </a:r>
          </a:p>
          <a:p xmlns:a="http://schemas.openxmlformats.org/drawingml/2006/main">
            <a:pPr>
              <a:buNone/>
              <a:defRPr sz="2325" b="0">
                <a:solidFill>
                  <a:srgbClr val="152D35"/>
                </a:solidFill>
                <a:latin typeface="Arial"/>
                <a:ea typeface="Arial"/>
                <a:cs typeface="Arial"/>
              </a:defRPr>
            </a:pPr>
            <a:r>
              <a:rPr sz="2325" b="0">
                <a:solidFill>
                  <a:srgbClr val="152D35"/>
                </a:solidFill>
                <a:latin typeface="Arial"/>
                <a:ea typeface="Arial"/>
                <a:cs typeface="Arial"/>
              </a:rPr>
              <a:t>3. Did a later message change it?</a:t>
            </a:r>
          </a:p>
        </p:txBody>
      </p:sp>
    </p:spTree>
    <p:extLst>
      <p:ext uri="{BB962C8B-B14F-4D97-AF65-F5344CB8AC3E}">
        <p14:creationId xmlns:p14="http://schemas.microsoft.com/office/powerpoint/2010/main" val="749884403"/>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01B2E0A-01F6-4FC3-BFE6-343E415405D3}"/>
              </a:ext>
            </a:extLst>
          </p:cNvPr>
          <p:cNvSpPr>
            <a:spLocks xmlns:a="http://schemas.openxmlformats.org/drawingml/2006/main" noGrp="1"/>
          </p:cNvSpPr>
          <p:nvPr/>
        </p:nvSpPr>
        <p:spPr>
          <a:xfrm xmlns:a="http://schemas.openxmlformats.org/drawingml/2006/main">
            <a:off x="666750" y="61912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52D35"/>
                </a:solidFill>
                <a:latin typeface="Arial"/>
                <a:ea typeface="Arial"/>
                <a:cs typeface="Arial"/>
              </a:defRPr>
            </a:defPPr>
          </a:lstStyle>
          <a:p xmlns:a="http://schemas.openxmlformats.org/drawingml/2006/main">
            <a:pPr>
              <a:buNone/>
              <a:defRPr sz="3600" b="1">
                <a:solidFill>
                  <a:srgbClr val="152D35"/>
                </a:solidFill>
                <a:latin typeface="Arial"/>
                <a:ea typeface="Arial"/>
                <a:cs typeface="Arial"/>
              </a:defRPr>
            </a:pPr>
            <a:r>
              <a:rPr sz="3600" b="1">
                <a:solidFill>
                  <a:srgbClr val="152D35"/>
                </a:solidFill>
                <a:latin typeface="Arial"/>
                <a:ea typeface="Arial"/>
                <a:cs typeface="Arial"/>
              </a:rPr>
              <a:t>Verified demo transfer</a:t>
            </a:r>
          </a:p>
        </p:txBody>
      </p:sp>
      <p:sp>
        <p:nvSpPr>
          <p:cNvPr id="2" name="">
            <a:extLst xmlns:a="http://schemas.openxmlformats.org/drawingml/2006/main">
              <a:ext uri="{FF2B5EF4-FFF2-40B4-BE49-F238E27FC236}">
                <a16:creationId xmlns:a16="http://schemas.microsoft.com/office/drawing/2014/main" id="{138277A8-73B8-4853-AF06-F66A114B1925}"/>
              </a:ext>
            </a:extLst>
          </p:cNvPr>
          <p:cNvSpPr>
            <a:spLocks xmlns:a="http://schemas.openxmlformats.org/drawingml/2006/main" noGrp="1"/>
          </p:cNvSpPr>
          <p:nvPr/>
        </p:nvSpPr>
        <p:spPr>
          <a:xfrm xmlns:a="http://schemas.openxmlformats.org/drawingml/2006/main">
            <a:off x="666750" y="2095500"/>
            <a:ext cx="4762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2D35"/>
                </a:solidFill>
                <a:latin typeface="Arial"/>
                <a:ea typeface="Arial"/>
                <a:cs typeface="Arial"/>
              </a:defRPr>
            </a:defPPr>
          </a:lstStyle>
          <a:p xmlns:a="http://schemas.openxmlformats.org/drawingml/2006/main">
            <a:pPr>
              <a:buNone/>
              <a:defRPr sz="2325" b="0">
                <a:solidFill>
                  <a:srgbClr val="152D35"/>
                </a:solidFill>
                <a:latin typeface="Arial"/>
                <a:ea typeface="Arial"/>
                <a:cs typeface="Arial"/>
              </a:defRPr>
            </a:pPr>
            <a:r>
              <a:rPr sz="2325" b="0">
                <a:solidFill>
                  <a:srgbClr val="152D35"/>
                </a:solidFill>
                <a:latin typeface="Arial"/>
                <a:ea typeface="Arial"/>
                <a:cs typeface="Arial"/>
              </a:rPr>
              <a:t>After the transfer:</a:t>
            </a:r>
          </a:p>
          <a:p xmlns:a="http://schemas.openxmlformats.org/drawingml/2006/main">
            <a:r>
              <a:t/>
            </a:r>
          </a:p>
          <a:p xmlns:a="http://schemas.openxmlformats.org/drawingml/2006/main">
            <a:pPr>
              <a:buNone/>
              <a:defRPr sz="2325" b="0">
                <a:solidFill>
                  <a:srgbClr val="152D35"/>
                </a:solidFill>
                <a:latin typeface="Arial"/>
                <a:ea typeface="Arial"/>
                <a:cs typeface="Arial"/>
              </a:defRPr>
            </a:pPr>
            <a:r>
              <a:rPr sz="2325" b="0">
                <a:solidFill>
                  <a:srgbClr val="152D35"/>
                </a:solidFill>
                <a:latin typeface="Arial"/>
                <a:ea typeface="Arial"/>
                <a:cs typeface="Arial"/>
              </a:rPr>
              <a:t>Owner: PKR 475,000</a:t>
            </a:r>
          </a:p>
          <a:p xmlns:a="http://schemas.openxmlformats.org/drawingml/2006/main">
            <a:pPr>
              <a:buNone/>
              <a:defRPr sz="2325" b="0">
                <a:solidFill>
                  <a:srgbClr val="152D35"/>
                </a:solidFill>
                <a:latin typeface="Arial"/>
                <a:ea typeface="Arial"/>
                <a:cs typeface="Arial"/>
              </a:defRPr>
            </a:pPr>
            <a:r>
              <a:rPr sz="2325" b="0">
                <a:solidFill>
                  <a:srgbClr val="152D35"/>
                </a:solidFill>
                <a:latin typeface="Arial"/>
                <a:ea typeface="Arial"/>
                <a:cs typeface="Arial"/>
              </a:rPr>
              <a:t>Vendor: PKR 25,000</a:t>
            </a:r>
          </a:p>
          <a:p xmlns:a="http://schemas.openxmlformats.org/drawingml/2006/main">
            <a:r>
              <a:t/>
            </a:r>
          </a:p>
          <a:p xmlns:a="http://schemas.openxmlformats.org/drawingml/2006/main">
            <a:pPr>
              <a:buNone/>
              <a:defRPr sz="2325" b="0">
                <a:solidFill>
                  <a:srgbClr val="152D35"/>
                </a:solidFill>
                <a:latin typeface="Arial"/>
                <a:ea typeface="Arial"/>
                <a:cs typeface="Arial"/>
              </a:defRPr>
            </a:pPr>
            <a:r>
              <a:rPr sz="2325" b="0">
                <a:solidFill>
                  <a:srgbClr val="152D35"/>
                </a:solidFill>
                <a:latin typeface="Arial"/>
                <a:ea typeface="Arial"/>
                <a:cs typeface="Arial"/>
              </a:rPr>
              <a:t>PKR 25,000 moved once</a:t>
            </a:r>
          </a:p>
          <a:p xmlns:a="http://schemas.openxmlformats.org/drawingml/2006/main">
            <a:pPr>
              <a:buNone/>
              <a:defRPr sz="2325" b="0">
                <a:solidFill>
                  <a:srgbClr val="152D35"/>
                </a:solidFill>
                <a:latin typeface="Arial"/>
                <a:ea typeface="Arial"/>
                <a:cs typeface="Arial"/>
              </a:defRPr>
            </a:pPr>
            <a:r>
              <a:rPr sz="2325" b="0">
                <a:solidFill>
                  <a:srgbClr val="152D35"/>
                </a:solidFill>
                <a:latin typeface="Arial"/>
                <a:ea typeface="Arial"/>
                <a:cs typeface="Arial"/>
              </a:rPr>
              <a:t>Fictional DEMO FUNDS</a:t>
            </a:r>
          </a:p>
        </p:txBody>
      </p:sp>
      <p:pic>
        <p:nvPicPr>
          <p:cNvPr id="3" name="">
            <a:extLst xmlns:a="http://schemas.openxmlformats.org/drawingml/2006/main">
              <a:ext uri="{FF2B5EF4-FFF2-40B4-BE49-F238E27FC236}">
                <a16:creationId xmlns:a16="http://schemas.microsoft.com/office/drawing/2014/main" id="{12BBDF12-A623-465C-940B-41E1F943CC67}"/>
              </a:ext>
            </a:extLst>
          </p:cNvPr>
          <p:cNvPicPr>
            <a:picLocks xmlns:a="http://schemas.openxmlformats.org/drawingml/2006/main" noChangeAspect="1"/>
          </p:cNvPicPr>
          <p:nvPr/>
        </p:nvPicPr>
        <p:blipFill>
          <a:blip xmlns:r="http://schemas.openxmlformats.org/officeDocument/2006/relationships" xmlns:a="http://schemas.openxmlformats.org/drawingml/2006/main" r:embed="R371b95a1c75d464e"/>
          <a:stretch xmlns:a="http://schemas.openxmlformats.org/drawingml/2006/main"/>
        </p:blipFill>
        <p:spPr>
          <a:xfrm xmlns:a="http://schemas.openxmlformats.org/drawingml/2006/main">
            <a:off x="6374071" y="2000250"/>
            <a:ext cx="4587357" cy="3905250"/>
          </a:xfrm>
          <a:prstGeom xmlns:a="http://schemas.openxmlformats.org/drawingml/2006/main" prst="rect">
            <a:avLst/>
          </a:prstGeom>
        </p:spPr>
      </p:pic>
    </p:spTree>
    <p:extLst>
      <p:ext uri="{BB962C8B-B14F-4D97-AF65-F5344CB8AC3E}">
        <p14:creationId xmlns:p14="http://schemas.microsoft.com/office/powerpoint/2010/main" val="498350167"/>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8B749330-3A25-4719-A702-E5BDD995247D}"/>
              </a:ext>
            </a:extLst>
          </p:cNvPr>
          <p:cNvSpPr>
            <a:spLocks xmlns:a="http://schemas.openxmlformats.org/drawingml/2006/main" noGrp="1"/>
          </p:cNvSpPr>
          <p:nvPr/>
        </p:nvSpPr>
        <p:spPr>
          <a:xfrm xmlns:a="http://schemas.openxmlformats.org/drawingml/2006/main">
            <a:off x="666750" y="61912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52D35"/>
                </a:solidFill>
                <a:latin typeface="Arial"/>
                <a:ea typeface="Arial"/>
                <a:cs typeface="Arial"/>
              </a:defRPr>
            </a:defPPr>
          </a:lstStyle>
          <a:p xmlns:a="http://schemas.openxmlformats.org/drawingml/2006/main">
            <a:pPr>
              <a:buNone/>
              <a:defRPr sz="3600" b="1">
                <a:solidFill>
                  <a:srgbClr val="152D35"/>
                </a:solidFill>
                <a:latin typeface="Arial"/>
                <a:ea typeface="Arial"/>
                <a:cs typeface="Arial"/>
              </a:defRPr>
            </a:pPr>
            <a:r>
              <a:rPr sz="3600" b="1">
                <a:solidFill>
                  <a:srgbClr val="152D35"/>
                </a:solidFill>
                <a:latin typeface="Arial"/>
                <a:ea typeface="Arial"/>
                <a:cs typeface="Arial"/>
              </a:rPr>
              <a:t>Owner decision and stored demo money</a:t>
            </a:r>
          </a:p>
        </p:txBody>
      </p:sp>
      <p:sp>
        <p:nvSpPr>
          <p:cNvPr id="2" name="">
            <a:extLst xmlns:a="http://schemas.openxmlformats.org/drawingml/2006/main">
              <a:ext uri="{FF2B5EF4-FFF2-40B4-BE49-F238E27FC236}">
                <a16:creationId xmlns:a16="http://schemas.microsoft.com/office/drawing/2014/main" id="{6E6E05EF-4B45-4275-8DA2-63101EC97ED5}"/>
              </a:ext>
            </a:extLst>
          </p:cNvPr>
          <p:cNvSpPr>
            <a:spLocks xmlns:a="http://schemas.openxmlformats.org/drawingml/2006/main" noGrp="1"/>
          </p:cNvSpPr>
          <p:nvPr/>
        </p:nvSpPr>
        <p:spPr>
          <a:xfrm xmlns:a="http://schemas.openxmlformats.org/drawingml/2006/main">
            <a:off x="666750" y="2190750"/>
            <a:ext cx="10858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2D35"/>
                </a:solidFill>
                <a:latin typeface="Arial"/>
                <a:ea typeface="Arial"/>
                <a:cs typeface="Arial"/>
              </a:defRPr>
            </a:defPPr>
          </a:lstStyle>
          <a:p xmlns:a="http://schemas.openxmlformats.org/drawingml/2006/main">
            <a:pPr>
              <a:buNone/>
              <a:defRPr sz="2325" b="0">
                <a:solidFill>
                  <a:srgbClr val="152D35"/>
                </a:solidFill>
                <a:latin typeface="Arial"/>
                <a:ea typeface="Arial"/>
                <a:cs typeface="Arial"/>
              </a:defRPr>
            </a:pPr>
            <a:r>
              <a:rPr sz="2325" b="0">
                <a:solidFill>
                  <a:srgbClr val="152D35"/>
                </a:solidFill>
                <a:latin typeface="Arial"/>
                <a:ea typeface="Arial"/>
                <a:cs typeface="Arial"/>
              </a:rPr>
              <a:t>Saved vendor, amount, account and evidence</a:t>
            </a:r>
          </a:p>
          <a:p xmlns:a="http://schemas.openxmlformats.org/drawingml/2006/main">
            <a:r>
              <a:t/>
            </a:r>
          </a:p>
          <a:p xmlns:a="http://schemas.openxmlformats.org/drawingml/2006/main">
            <a:pPr>
              <a:buNone/>
              <a:defRPr sz="2325" b="0">
                <a:solidFill>
                  <a:srgbClr val="152D35"/>
                </a:solidFill>
                <a:latin typeface="Arial"/>
                <a:ea typeface="Arial"/>
                <a:cs typeface="Arial"/>
              </a:defRPr>
            </a:pPr>
            <a:r>
              <a:rPr sz="2325" b="0">
                <a:solidFill>
                  <a:srgbClr val="152D35"/>
                </a:solidFill>
                <a:latin typeface="Arial"/>
                <a:ea typeface="Arial"/>
                <a:cs typeface="Arial"/>
              </a:rPr>
              <a:t>Passcode and unchanged approval required</a:t>
            </a:r>
          </a:p>
          <a:p xmlns:a="http://schemas.openxmlformats.org/drawingml/2006/main">
            <a:r>
              <a:t/>
            </a:r>
          </a:p>
          <a:p xmlns:a="http://schemas.openxmlformats.org/drawingml/2006/main">
            <a:pPr>
              <a:buNone/>
              <a:defRPr sz="2325" b="0">
                <a:solidFill>
                  <a:srgbClr val="152D35"/>
                </a:solidFill>
                <a:latin typeface="Arial"/>
                <a:ea typeface="Arial"/>
                <a:cs typeface="Arial"/>
              </a:defRPr>
            </a:pPr>
            <a:r>
              <a:rPr sz="2325" b="0">
                <a:solidFill>
                  <a:srgbClr val="152D35"/>
                </a:solidFill>
                <a:latin typeface="Arial"/>
                <a:ea typeface="Arial"/>
                <a:cs typeface="Arial"/>
              </a:rPr>
              <a:t>One atomic transfer and one receipt</a:t>
            </a:r>
          </a:p>
        </p:txBody>
      </p:sp>
    </p:spTree>
    <p:extLst>
      <p:ext uri="{BB962C8B-B14F-4D97-AF65-F5344CB8AC3E}">
        <p14:creationId xmlns:p14="http://schemas.microsoft.com/office/powerpoint/2010/main" val="1393862083"/>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C1E0E6B7-B88C-4F0B-A487-DEDBC8BA6337}"/>
              </a:ext>
            </a:extLst>
          </p:cNvPr>
          <p:cNvSpPr>
            <a:spLocks xmlns:a="http://schemas.openxmlformats.org/drawingml/2006/main" noGrp="1"/>
          </p:cNvSpPr>
          <p:nvPr/>
        </p:nvSpPr>
        <p:spPr>
          <a:xfrm xmlns:a="http://schemas.openxmlformats.org/drawingml/2006/main">
            <a:off x="666750" y="61912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52D35"/>
                </a:solidFill>
                <a:latin typeface="Arial"/>
                <a:ea typeface="Arial"/>
                <a:cs typeface="Arial"/>
              </a:defRPr>
            </a:defPPr>
          </a:lstStyle>
          <a:p xmlns:a="http://schemas.openxmlformats.org/drawingml/2006/main">
            <a:pPr>
              <a:buNone/>
              <a:defRPr sz="3600" b="1">
                <a:solidFill>
                  <a:srgbClr val="152D35"/>
                </a:solidFill>
                <a:latin typeface="Arial"/>
                <a:ea typeface="Arial"/>
                <a:cs typeface="Arial"/>
              </a:defRPr>
            </a:pPr>
            <a:r>
              <a:rPr sz="3600" b="1">
                <a:solidFill>
                  <a:srgbClr val="152D35"/>
                </a:solidFill>
                <a:latin typeface="Arial"/>
                <a:ea typeface="Arial"/>
                <a:cs typeface="Arial"/>
              </a:rPr>
              <a:t>Actual verification and remaining limits</a:t>
            </a:r>
          </a:p>
        </p:txBody>
      </p:sp>
      <p:sp>
        <p:nvSpPr>
          <p:cNvPr id="2" name="">
            <a:extLst xmlns:a="http://schemas.openxmlformats.org/drawingml/2006/main">
              <a:ext uri="{FF2B5EF4-FFF2-40B4-BE49-F238E27FC236}">
                <a16:creationId xmlns:a16="http://schemas.microsoft.com/office/drawing/2014/main" id="{CAA8C1E6-E16F-41C7-A84C-A400B8D5AD8F}"/>
              </a:ext>
            </a:extLst>
          </p:cNvPr>
          <p:cNvSpPr>
            <a:spLocks xmlns:a="http://schemas.openxmlformats.org/drawingml/2006/main" noGrp="1"/>
          </p:cNvSpPr>
          <p:nvPr/>
        </p:nvSpPr>
        <p:spPr>
          <a:xfrm xmlns:a="http://schemas.openxmlformats.org/drawingml/2006/main">
            <a:off x="666750" y="2190750"/>
            <a:ext cx="10858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2D35"/>
                </a:solidFill>
                <a:latin typeface="Arial"/>
                <a:ea typeface="Arial"/>
                <a:cs typeface="Arial"/>
              </a:defRPr>
            </a:defPPr>
          </a:lstStyle>
          <a:p xmlns:a="http://schemas.openxmlformats.org/drawingml/2006/main">
            <a:pPr>
              <a:buNone/>
              <a:defRPr sz="2325" b="0">
                <a:solidFill>
                  <a:srgbClr val="152D35"/>
                </a:solidFill>
                <a:latin typeface="Arial"/>
                <a:ea typeface="Arial"/>
                <a:cs typeface="Arial"/>
              </a:defRPr>
            </a:pPr>
            <a:r>
              <a:rPr sz="2325" b="0">
                <a:solidFill>
                  <a:srgbClr val="152D35"/>
                </a:solidFill>
                <a:latin typeface="Arial"/>
                <a:ea typeface="Arial"/>
                <a:cs typeface="Arial"/>
              </a:rPr>
              <a:t>66 local tests passed</a:t>
            </a:r>
          </a:p>
          <a:p xmlns:a="http://schemas.openxmlformats.org/drawingml/2006/main">
            <a:r>
              <a:t/>
            </a:r>
          </a:p>
          <a:p xmlns:a="http://schemas.openxmlformats.org/drawingml/2006/main">
            <a:pPr>
              <a:buNone/>
              <a:defRPr sz="2325" b="0">
                <a:solidFill>
                  <a:srgbClr val="152D35"/>
                </a:solidFill>
                <a:latin typeface="Arial"/>
                <a:ea typeface="Arial"/>
                <a:cs typeface="Arial"/>
              </a:defRPr>
            </a:pPr>
            <a:r>
              <a:rPr sz="2325" b="0">
                <a:solidFill>
                  <a:srgbClr val="152D35"/>
                </a:solidFill>
                <a:latin typeface="Arial"/>
                <a:ea typeface="Arial"/>
                <a:cs typeface="Arial"/>
              </a:rPr>
              <a:t>Current PDF checks: ready, review and hold</a:t>
            </a:r>
          </a:p>
          <a:p xmlns:a="http://schemas.openxmlformats.org/drawingml/2006/main">
            <a:pPr>
              <a:buNone/>
              <a:defRPr sz="2325" b="0">
                <a:solidFill>
                  <a:srgbClr val="152D35"/>
                </a:solidFill>
                <a:latin typeface="Arial"/>
                <a:ea typeface="Arial"/>
                <a:cs typeface="Arial"/>
              </a:defRPr>
            </a:pPr>
            <a:r>
              <a:rPr sz="2325" b="0">
                <a:solidFill>
                  <a:srgbClr val="152D35"/>
                </a:solidFill>
                <a:latin typeface="Arial"/>
                <a:ea typeface="Arial"/>
                <a:cs typeface="Arial"/>
              </a:rPr>
              <a:t/>
            </a:r>
          </a:p>
          <a:p xmlns:a="http://schemas.openxmlformats.org/drawingml/2006/main">
            <a:r>
              <a:t>Historical repeat: 8 of 9 matched</a:t>
            </a:r>
          </a:p>
          <a:p xmlns:a="http://schemas.openxmlformats.org/drawingml/2006/main">
            <a:pPr>
              <a:buNone/>
              <a:defRPr sz="2325" b="0">
                <a:solidFill>
                  <a:srgbClr val="152D35"/>
                </a:solidFill>
                <a:latin typeface="Arial"/>
                <a:ea typeface="Arial"/>
                <a:cs typeface="Arial"/>
              </a:defRPr>
            </a:pPr>
            <a:r>
              <a:rPr sz="2325" b="0">
                <a:solidFill>
                  <a:srgbClr val="152D35"/>
                </a:solidFill>
                <a:latin typeface="Arial"/>
                <a:ea typeface="Arial"/>
                <a:cs typeface="Arial"/>
              </a:rPr>
              <a:t>Previous model/prompt; 1 safe failure</a:t>
            </a:r>
          </a:p>
          <a:p xmlns:a="http://schemas.openxmlformats.org/drawingml/2006/main">
            <a:r>
              <a:t/>
            </a:r>
          </a:p>
          <a:p xmlns:a="http://schemas.openxmlformats.org/drawingml/2006/main">
            <a:pPr>
              <a:buNone/>
              <a:defRPr sz="2325" b="0">
                <a:solidFill>
                  <a:srgbClr val="152D35"/>
                </a:solidFill>
                <a:latin typeface="Arial"/>
                <a:ea typeface="Arial"/>
                <a:cs typeface="Arial"/>
              </a:defRPr>
            </a:pPr>
            <a:r>
              <a:rPr sz="2325" b="0">
                <a:solidFill>
                  <a:srgbClr val="152D35"/>
                </a:solidFill>
                <a:latin typeface="Arial"/>
                <a:ea typeface="Arial"/>
                <a:cs typeface="Arial"/>
              </a:rPr>
              <a:t>Hosted link and team rehearsal pending</a:t>
            </a:r>
          </a:p>
        </p:txBody>
      </p:sp>
    </p:spTree>
    <p:extLst>
      <p:ext uri="{BB962C8B-B14F-4D97-AF65-F5344CB8AC3E}">
        <p14:creationId xmlns:p14="http://schemas.microsoft.com/office/powerpoint/2010/main" val="8869885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2026-10-10T14:35:26.0620000Z</dcterms:created>
  <dcterms:modified xsi:type="dcterms:W3CDTF">2026-10-10T14:35:26.0620000Z</dcterms:modified>
</coreProperties>
</file>